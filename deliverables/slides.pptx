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</a:rPr>
              <a:t>Clinical Natural Language Technology</a:t>
            </a:r>
          </a:p>
          <a:p>
            <a:pPr>
              <a:spcAft>
                <a:spcPts val="800"/>
              </a:spcAft>
            </a:pPr>
            <a:r>
              <a:rPr sz="3000" b="0">
                <a:solidFill>
                  <a:srgbClr val="BFE6EA"/>
                </a:solidFill>
              </a:rPr>
              <a:t>for Health Care: Past, Present &amp;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Akhil Gorantala — St. Francis College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</a:rPr>
              <a:t>Cotiviti GenAI Science Internship · Demonstration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FE6EA"/>
                </a:solidFill>
              </a:rPr>
              <a:t>github.com/akhilg-9/cotiviti-cni-assessment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Why clinical language technology matters to Cotiviti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>
                <a:solidFill>
                  <a:srgbClr val="189AA8"/>
                </a:solidFill>
              </a:rPr>
              <a:t>~80%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</a:rPr>
              <a:t>of healthcare data is unstructured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01168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Notes, discharge summaries, path/radiology reports, scanned charts.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That text hides coding accuracy, quality gaps, recoverable dollars.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202020"/>
                </a:solidFill>
              </a:rPr>
              <a:t>• Reading it at scale is a direct lever on Treatment, Payment &amp; Operations.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Past → Present →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Three eras of clinical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PAST — rule-based: dictionaries, regex, ontologies (UMLS/SNOMED/ICD), NegEx.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Transparent and deterministic, but brittle: finds only what it was told about.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PRESENT — LLM structured extraction: reads the note in context.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Normalizes phrasing, codes to ICD-10, reasons about negation and uncertainty.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FUTURE — multimodal (LMM): the model reads the scanned page image directly.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The separate OCR stage disappears.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One pipeline, three eras, same note — measurable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Clinical Note Intelligence: free-text note → codeable ICD-10 / HCC findings.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Every finding carries status, verbatim evidence, and calibrated confidence.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Schema-enforced JSON output — the API rejects malformed model responses.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Versioned prompts (YAML), 16 unit tests + CI, evaluation harness, Streamlit UI.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Validated live on real de-identified notes: hospital discharge summaries,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a comprehensive H&amp;P, and five MTSamples transcription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Measured Results — Labeled Gold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cni eval · 9 conditions across 2 notes · live claude-haiku-4-5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6035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/>
                <a:gridCol w="1207008"/>
                <a:gridCol w="1207008"/>
                <a:gridCol w="1207008"/>
                <a:gridCol w="1207008"/>
              </a:tblGrid>
              <a:tr h="5791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Era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Status accuracy</a:t>
                      </a:r>
                    </a:p>
                  </a:txBody>
                  <a:tcPr>
                    <a:solidFill>
                      <a:srgbClr val="0E4D52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Past —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Present — LLM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0202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4F6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600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02020"/>
                </a:solidFill>
              </a:rPr>
              <a:t>Status accuracy — where the eras separate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2953512"/>
            <a:ext cx="1005840" cy="244144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6426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2651760"/>
            <a:ext cx="1005840" cy="2743200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29800" y="23408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486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5486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55555"/>
                </a:solidFill>
              </a:rPr>
              <a:t>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6217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02020"/>
                </a:solidFill>
              </a:rPr>
              <a:t>The note says hypertension is "suspected, not yet confirmed."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02020"/>
                </a:solidFill>
              </a:rPr>
              <a:t>Rules code it ACTIVE (backward-only negation scan). The LLM reads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02020"/>
                </a:solidFill>
              </a:rPr>
              <a:t>the sentence and says UNCERTAIN — the 89% → 100% gap is exactly that.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Real Notes, Real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Findings per era on real de-identified notes (live runs)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4878593"/>
            <a:ext cx="777240" cy="333487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56769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2808" y="3711389"/>
            <a:ext cx="777240" cy="1500691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55648" y="340049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79776" y="3544645"/>
            <a:ext cx="777240" cy="1667435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42616" y="323374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303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Discharge summary
(pyelonephritis)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5202555"/>
            <a:ext cx="777240" cy="9525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489165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41848" y="3878132"/>
            <a:ext cx="777240" cy="1333948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4688" y="3567236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4044876"/>
            <a:ext cx="777240" cy="1167204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73398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303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CLL + hemolytic
anemia follow-up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5045337"/>
            <a:ext cx="777240" cy="166743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73444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8" y="2544184"/>
            <a:ext cx="777240" cy="2667896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223328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77856" y="2377440"/>
            <a:ext cx="777240" cy="2834640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0696" y="20665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02020"/>
                </a:solidFill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303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CAD 6-month
follow-up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6192200"/>
            <a:ext cx="201168" cy="201168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6172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Past — 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6192200"/>
            <a:ext cx="201168" cy="201168"/>
          </a:xfrm>
          <a:prstGeom prst="rect">
            <a:avLst/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82112" y="6172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Present — LLM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6192200"/>
            <a:ext cx="201168" cy="201168"/>
          </a:xfrm>
          <a:prstGeom prst="rect">
            <a:avLst/>
          </a:prstGeom>
          <a:solidFill>
            <a:srgbClr val="E87B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352" y="6172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Future — vision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61722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0322E"/>
                </a:solidFill>
              </a:rPr>
              <a:t>Rules missed the discharge diagnosis itself — pyelonephritis (N10).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The Failure That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Found organically on a real cardiology note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1">
                <a:solidFill>
                  <a:srgbClr val="0E4D52"/>
                </a:solidFill>
              </a:rPr>
              <a:t>"…cardiac catheterization showed NO EVIDENCE OF coronary artery disease."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Rule-based era: reports CAD as ACTIVE — the negation pattern never fires.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LLM era: correctly omits it.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That is a false diagnosis a payer would have had to defend.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Pinned as a unit test — the brittleness is documented behavior, not an anecdote.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Guardrails Built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A deterministic guard + audit trail on a probabilistic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Every emitted code checked against the official CMS ICD-10-CM set — 74,719 codes.</a:t>
            </a:r>
          </a:p>
          <a:p>
            <a:pPr lvl="1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</a:rPr>
              <a:t>– Caught live: the vision model emitted R61.9 and R21.9 — codes that don't exist.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Every run writes an audit artifact: note, model, prompt version, findings + evidence.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Structured-output schema, pydantic validation, retries and timeouts on every call.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This is the report's recommended architecture for Cotiviti — in miniature.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Opportunities &amp; Threats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89AA8"/>
                </a:solidFill>
              </a:rPr>
              <a:t>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Chart-to-code automation for risk adjustment (HCC) and payment integrity.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Policy → executable rules; summarize and compare policy versions.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Quality-measure abstraction (HEDIS) from free text.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Clinical validation for prior authorization and appeals.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22E"/>
                </a:solidFill>
              </a:rPr>
              <a:t>Threats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Hallucinated codes/evidence — unacceptable when payment depends on it.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PHI / HIPAA and data-governance obligations.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Regulatory scrutiny (FDA, ONC); auditability demands.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02020"/>
                </a:solidFill>
              </a:rPr>
              <a:t>• Model bias/equity; vendor cost and lock-in.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ctr"/>
            <a:r>
              <a:rPr sz="3000" b="1">
                <a:solidFill>
                  <a:srgbClr val="FFFFFF"/>
                </a:solidFill>
              </a:rPr>
              <a:t>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89AA8"/>
                </a:solidFill>
              </a:rPr>
              <a:t>Differentiate on trustworthy, explainable clinical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Governed, human-in-the-loop chart review with span-level evidence per code.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Pair LLM extraction with deterministic ICD-10/HCC validation (as this POC does).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Adopt multimodal models for scanned/faxed records — retire brittle OCR pipelines.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02020"/>
                </a:solidFill>
              </a:rPr>
              <a:t>• Stand up evaluation + guardrail frameworks before production.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</a:rPr>
              <a:t>Thank you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BFE6EA"/>
                </a:solidFill>
              </a:rPr>
              <a:t>Akhil Gorantala  ·  Cotiviti GenAI Science Internship Demonstration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FE6EA"/>
                </a:solidFill>
              </a:rPr>
              <a:t>github.com/akhilg-9/cotiviti-cni-assessment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