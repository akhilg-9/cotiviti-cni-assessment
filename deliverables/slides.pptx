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</a:rPr>
              <a:t>Clinical Natural Language Technology</a:t>
            </a:r>
          </a:p>
          <a:p>
            <a:pPr>
              <a:spcAft>
                <a:spcPts val="800"/>
              </a:spcAft>
            </a:pPr>
            <a:r>
              <a:rPr sz="3000" b="0">
                <a:solidFill>
                  <a:srgbClr val="BFE6EA"/>
                </a:solidFill>
              </a:rPr>
              <a:t>for Health Care: Past, Present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Akhil Gorantala — St. Francis College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Cotiviti GenAI Science Internship · Demonstration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FE6EA"/>
                </a:solidFill>
              </a:rPr>
              <a:t>github.com/akhilg-9/cotiviti-cni-assessment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9AA8"/>
                </a:solidFill>
              </a:rPr>
              <a:t>Why clinical language technology matters to 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189AA8"/>
                </a:solidFill>
              </a:rPr>
              <a:t>~80%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of healthcare data is unstructured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0E4D52"/>
                </a:solidFill>
              </a:rPr>
              <a:t>$31.7B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Medicare FFS improper payments, FY2024 (CMS, 7.66%)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01168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Notes, discharge summaries, path/radiology reports, scanned charts.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That text hides coding accuracy, quality gaps, recoverable dollars.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Reading it at scale is a direct lever on Treatment, Payment &amp;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Past → Present →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9AA8"/>
                </a:solidFill>
              </a:rPr>
              <a:t>Three eras of clinical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PAST — rule-based: dictionaries, regex, ontologies (UMLS/SNOMED/ICD), NegEx.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– Transparent and deterministic, but brittle: finds only what it was told about.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PRESENT — LLM structured extraction: reads the note in context.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– Normalizes phrasing, codes to ICD-10, reasons about negation and uncertainty.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FUTURE — multimodal (LMM): the model reads the scanned page image directly.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– The separate OCR stage disappears.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9AA8"/>
                </a:solidFill>
              </a:rPr>
              <a:t>One pipeline, three eras, same note — measurable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Free-text note → codeable ICD-10 / HCC findings.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Every finding carries status, verbatim evidence, and confidence.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Schema-enforced JSON — malformed model output is rejected.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Versioned prompts, 17 unit tests, ruff-linted CI, Streamlit UI.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Validated live on real de-identified notes (discharge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  summaries, an H&amp;P, five MTSamples transcriptions).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20240"/>
            <a:ext cx="4846320" cy="2584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Measured Results — Labeled Gold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9AA8"/>
                </a:solidFill>
              </a:rPr>
              <a:t>cni eval · 11 conditions across 2 notes · live claude-haiku-4-5, temperature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60350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5791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Era</a:t>
                      </a:r>
                    </a:p>
                  </a:txBody>
                  <a:tcPr>
                    <a:solidFill>
                      <a:srgbClr val="0E4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E4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E4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E4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Status accuracy</a:t>
                      </a:r>
                    </a:p>
                  </a:txBody>
                  <a:tcPr>
                    <a:solidFill>
                      <a:srgbClr val="0E4D5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Past —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Present — LLM</a:t>
                      </a:r>
                    </a:p>
                  </a:txBody>
                  <a:tcPr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600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2020"/>
                </a:solidFill>
              </a:rPr>
              <a:t>Status accuracy — where the eras separate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2953512"/>
            <a:ext cx="1005840" cy="24414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642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89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0" y="2651760"/>
            <a:ext cx="1005840" cy="2743200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486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5486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02020"/>
                </a:solidFill>
              </a:rPr>
              <a:t>Recall: rules miss edema and fatigue outright — terms outside the dictionary.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020"/>
                </a:solidFill>
              </a:rPr>
              <a:t>Status: the note says hypertension is "suspected, not yet confirmed" —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020"/>
                </a:solidFill>
              </a:rPr>
              <a:t>rules code it ACTIVE (backward-only negation scan); the LLM says UNCERTAIN.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Real Notes, Real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9AA8"/>
                </a:solidFill>
              </a:rPr>
              <a:t>Findings per era on real de-identified notes (live runs)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78593"/>
            <a:ext cx="777240" cy="333487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56769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892808" y="3711389"/>
            <a:ext cx="777240" cy="1500691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5648" y="3400493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9776" y="3544645"/>
            <a:ext cx="777240" cy="1667435"/>
          </a:xfrm>
          <a:prstGeom prst="rect">
            <a:avLst/>
          </a:prstGeom>
          <a:solidFill>
            <a:srgbClr val="E8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42616" y="323374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03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Discharge summary
(pyelonephritis)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5202555"/>
            <a:ext cx="777240" cy="952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89165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1848" y="3878132"/>
            <a:ext cx="777240" cy="133394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4688" y="356723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4044876"/>
            <a:ext cx="777240" cy="1167204"/>
          </a:xfrm>
          <a:prstGeom prst="rect">
            <a:avLst/>
          </a:prstGeom>
          <a:solidFill>
            <a:srgbClr val="E8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37339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303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CLL + hemolytic
anemia follow-up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5045337"/>
            <a:ext cx="777240" cy="166743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734441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90888" y="2544184"/>
            <a:ext cx="777240" cy="2667896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23328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77856" y="2377440"/>
            <a:ext cx="777240" cy="2834640"/>
          </a:xfrm>
          <a:prstGeom prst="rect">
            <a:avLst/>
          </a:prstGeom>
          <a:solidFill>
            <a:srgbClr val="E8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0696" y="206654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020"/>
                </a:solidFill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5303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CAD 6-month
follow-up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6192200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872" y="6172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Past — 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619220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82112" y="6172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Present — LLM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6192200"/>
            <a:ext cx="201168" cy="201168"/>
          </a:xfrm>
          <a:prstGeom prst="rect">
            <a:avLst/>
          </a:prstGeom>
          <a:solidFill>
            <a:srgbClr val="E8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2" y="6172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Future — 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6172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22E"/>
                </a:solidFill>
              </a:rPr>
              <a:t>Rules missed the discharge diagnosis itself — pyelonephritis (N10).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The Failure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9AA8"/>
                </a:solidFill>
              </a:rPr>
              <a:t>Found organically on a real cardiology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E4D52"/>
                </a:solidFill>
              </a:rPr>
              <a:t>"…cardiac catheterization showed NO EVIDENCE OF coronary artery disease."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Rule-based era: reports CAD as ACTIVE — the negation pattern never fires.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LLM era: correctly omits it.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That is a false diagnosis a payer would have had to defend.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Pinned as a unit test — the brittleness is documented behavior, not an anecdote.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Guardrails Built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9AA8"/>
                </a:solidFill>
              </a:rPr>
              <a:t>A deterministic guard + audit trail on a probabilistic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3520440" cy="173736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4D52"/>
                </a:solidFill>
              </a:rPr>
              <a:t>74,719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official ICD-10-CM codes
every emitted code checked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783080"/>
            <a:ext cx="3520440" cy="173736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8300"/>
                </a:solidFill>
              </a:rPr>
              <a:t>97.8%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LLM codes valid
across real-note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783080"/>
            <a:ext cx="3520440" cy="173736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89AA8"/>
                </a:solidFill>
              </a:rPr>
              <a:t>92.1%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7432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vision codes valid
every miss flagged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Flagged live: R61.9, R21.9 — well-formed codes that don't exist.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Code-set drift caught: M54.5, D59.1, C91.1 were valid in earlier fiscal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– years, since subdivided — the model codes from its training era; the FY2026 table catches it.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Every run writes an audit artifact: note, model, prompt version, findings +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Opportunities &amp;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9AA8"/>
                </a:solidFill>
              </a:rP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Chart-to-code automation for risk adjustment (HCC) and payment integrity.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Policy → executable rules; summarize and compare policy versions.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Quality-measure abstraction (HEDIS) from free text.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Clinical validation for prior authorization and appeals.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22E"/>
                </a:solidFill>
              </a:rPr>
              <a:t>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Hallucinated codes/evidence — unacceptable when payment depends on it.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PHI / HIPAA and data-governance obligations.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Regulatory scrutiny (FDA, ONC); auditability demands.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Model bias/equity; vendor cost and lock-in.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9AA8"/>
                </a:solidFill>
              </a:rPr>
              <a:t>Differentiate on trustworthy, explainable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Governed, human-in-the-loop chart review with span-level evidence per code.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Pair LLM extraction with deterministic ICD-10/HCC validation (as this POC does).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Adopt multimodal models for scanned/faxed records — retire brittle OCR pipelines.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</a:rPr>
              <a:t>• Stand up evaluation + guardrail frameworks before production.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922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02020"/>
                </a:solidFill>
              </a:rPr>
              <a:t>The eras separate on judgment, not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7627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Status accuracy 89% → 100%; on real notes the dictionary missed the discharge diagnosis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009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02020"/>
                </a:solidFill>
              </a:rPr>
              <a:t>Trust is an architecture, not a model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85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Official code-table validation + evidence spans + audit artifacts make LLM output defensible.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54879"/>
            <a:ext cx="502920" cy="502920"/>
          </a:xfrm>
          <a:prstGeom prst="rect">
            <a:avLst/>
          </a:prstGeom>
          <a:solidFill>
            <a:srgbClr val="0E4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974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091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02020"/>
                </a:solidFill>
              </a:rPr>
              <a:t>This maps directly to Cotiviti's franchise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193791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Chart-to-code for risk adjustment and payment integrity, with $31.7B/yr of improper payments in scope.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Thank you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BFE6EA"/>
                </a:solidFill>
              </a:rPr>
              <a:t>Akhil Gorantala  ·  Cotiviti GenAI Science Internship Demonstration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FE6EA"/>
                </a:solidFill>
              </a:rPr>
              <a:t>github.com/akhilg-9/cotiviti-cni-assessment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