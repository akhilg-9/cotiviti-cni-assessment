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400" b="1">
                <a:solidFill>
                  <a:srgbClr val="FFFFFF"/>
                </a:solidFill>
              </a:rPr>
              <a:t>Clinical Natural Language Technology</a:t>
            </a:r>
          </a:p>
          <a:p>
            <a:pPr>
              <a:spcAft>
                <a:spcPts val="800"/>
              </a:spcAft>
            </a:pPr>
            <a:r>
              <a:rPr sz="3000" b="0">
                <a:solidFill>
                  <a:srgbClr val="BFE6EA"/>
                </a:solidFill>
              </a:rPr>
              <a:t>for Health Care: Past, Present &amp; Future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448056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FFFFFF"/>
                </a:solidFill>
              </a:rPr>
              <a:t>Akhil Gorantala — St. Francis College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FFFFFF"/>
                </a:solidFill>
              </a:rPr>
              <a:t>Cotiviti GenAI Science Internship · Demonstration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BFE6EA"/>
                </a:solidFill>
              </a:rPr>
              <a:t>github.com/akhilg-9/cotiviti-cni-assessment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4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7043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89AA8"/>
                </a:solidFill>
              </a:rPr>
              <a:t>Why clinical language technology matters to Cotiviti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4023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>
                <a:solidFill>
                  <a:srgbClr val="189AA8"/>
                </a:solidFill>
              </a:rPr>
              <a:t>~80%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555555"/>
                </a:solidFill>
              </a:rPr>
              <a:t>of healthcare data is unstructured 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20440"/>
            <a:ext cx="4206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>
                <a:solidFill>
                  <a:srgbClr val="0E4D52"/>
                </a:solidFill>
              </a:rPr>
              <a:t>$31.7B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617720"/>
            <a:ext cx="4297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555555"/>
                </a:solidFill>
              </a:rPr>
              <a:t>Medicare FFS improper payments, FY2024 (CMS, 7.66%)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2011680"/>
            <a:ext cx="6126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202020"/>
                </a:solidFill>
              </a:rPr>
              <a:t>• Notes, discharge summaries, path/radiology reports, scanned charts.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202020"/>
                </a:solidFill>
              </a:rPr>
              <a:t>• That text hides coding accuracy, quality gaps, recoverable dollars.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202020"/>
                </a:solidFill>
              </a:rPr>
              <a:t>• Reading it at scale is a direct lever on Treatment, Payment &amp; Operations.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4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Past → Present → Future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7043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89AA8"/>
                </a:solidFill>
              </a:rPr>
              <a:t>Three eras of clinical NLP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>
                <a:solidFill>
                  <a:srgbClr val="202020"/>
                </a:solidFill>
              </a:rPr>
              <a:t>• PAST — rule-based: dictionaries, regex, ontologies (UMLS/SNOMED/ICD), NegEx.</a:t>
            </a:r>
          </a:p>
          <a:p>
            <a:pPr lvl="1">
              <a:spcAft>
                <a:spcPts val="800"/>
              </a:spcAft>
            </a:pPr>
            <a:r>
              <a:rPr sz="1800" b="0">
                <a:solidFill>
                  <a:srgbClr val="555555"/>
                </a:solidFill>
              </a:rPr>
              <a:t>– Transparent and deterministic, but brittle: finds only what it was told about.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202020"/>
                </a:solidFill>
              </a:rPr>
              <a:t>• PRESENT — LLM structured extraction: reads the note in context.</a:t>
            </a:r>
          </a:p>
          <a:p>
            <a:pPr lvl="1">
              <a:spcAft>
                <a:spcPts val="800"/>
              </a:spcAft>
            </a:pPr>
            <a:r>
              <a:rPr sz="1800" b="0">
                <a:solidFill>
                  <a:srgbClr val="555555"/>
                </a:solidFill>
              </a:rPr>
              <a:t>– Normalizes phrasing, codes to ICD-10, reasons about negation and uncertainty.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202020"/>
                </a:solidFill>
              </a:rPr>
              <a:t>• FUTURE — multimodal (LMM): the model reads the scanned page image directly.</a:t>
            </a:r>
          </a:p>
          <a:p>
            <a:pPr lvl="1">
              <a:spcAft>
                <a:spcPts val="800"/>
              </a:spcAft>
            </a:pPr>
            <a:r>
              <a:rPr sz="1800" b="0">
                <a:solidFill>
                  <a:srgbClr val="555555"/>
                </a:solidFill>
              </a:rPr>
              <a:t>– The separate OCR stage disappears.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4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Proof of 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7043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89AA8"/>
                </a:solidFill>
              </a:rPr>
              <a:t>One pipeline, three eras, same note — measurable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5852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202020"/>
                </a:solidFill>
              </a:rPr>
              <a:t>• Free-text note → codeable ICD-10 / HCC findings.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202020"/>
                </a:solidFill>
              </a:rPr>
              <a:t>• Every finding carries status, verbatim evidence, and confidence.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202020"/>
                </a:solidFill>
              </a:rPr>
              <a:t>• Schema-enforced JSON — malformed model output is rejected.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202020"/>
                </a:solidFill>
              </a:rPr>
              <a:t>• Versioned prompts, 17 unit tests, ruff-linted CI, Streamlit UI.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202020"/>
                </a:solidFill>
              </a:rPr>
              <a:t>• Validated live on real de-identified notes (discharge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202020"/>
                </a:solidFill>
              </a:rPr>
              <a:t>  summaries, an H&amp;P, five MTSamples transcriptions).</a:t>
            </a:r>
          </a:p>
        </p:txBody>
      </p:sp>
      <p:pic>
        <p:nvPicPr>
          <p:cNvPr id="5" name="Picture 4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920240"/>
            <a:ext cx="4846320" cy="258470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4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Measured Results — Labeled Gold 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7043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89AA8"/>
                </a:solidFill>
              </a:rPr>
              <a:t>cni eval · 9 conditions across 2 notes · live claude-haiku-4-5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920240"/>
          <a:ext cx="60350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7008"/>
                <a:gridCol w="1207008"/>
                <a:gridCol w="1207008"/>
                <a:gridCol w="1207008"/>
                <a:gridCol w="1207008"/>
              </a:tblGrid>
              <a:tr h="5791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Era</a:t>
                      </a:r>
                    </a:p>
                  </a:txBody>
                  <a:tcPr>
                    <a:solidFill>
                      <a:srgbClr val="0E4D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Precision</a:t>
                      </a:r>
                    </a:p>
                  </a:txBody>
                  <a:tcPr>
                    <a:solidFill>
                      <a:srgbClr val="0E4D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Recall</a:t>
                      </a:r>
                    </a:p>
                  </a:txBody>
                  <a:tcPr>
                    <a:solidFill>
                      <a:srgbClr val="0E4D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F1</a:t>
                      </a:r>
                    </a:p>
                  </a:txBody>
                  <a:tcPr>
                    <a:solidFill>
                      <a:srgbClr val="0E4D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Status accuracy</a:t>
                      </a:r>
                    </a:p>
                  </a:txBody>
                  <a:tcPr>
                    <a:solidFill>
                      <a:srgbClr val="0E4D52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02020"/>
                          </a:solidFill>
                        </a:rPr>
                        <a:t>Past —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02020"/>
                          </a:solidFill>
                        </a:rPr>
                        <a:t>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02020"/>
                          </a:solidFill>
                        </a:rPr>
                        <a:t>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02020"/>
                          </a:solidFill>
                        </a:rPr>
                        <a:t>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02020"/>
                          </a:solidFill>
                        </a:rPr>
                        <a:t>89%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02020"/>
                          </a:solidFill>
                        </a:rPr>
                        <a:t>Present — LLM</a:t>
                      </a:r>
                    </a:p>
                  </a:txBody>
                  <a:tcPr>
                    <a:solidFill>
                      <a:srgbClr val="F4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02020"/>
                          </a:solidFill>
                        </a:rPr>
                        <a:t>1.00</a:t>
                      </a:r>
                    </a:p>
                  </a:txBody>
                  <a:tcPr>
                    <a:solidFill>
                      <a:srgbClr val="F4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02020"/>
                          </a:solidFill>
                        </a:rPr>
                        <a:t>1.00</a:t>
                      </a:r>
                    </a:p>
                  </a:txBody>
                  <a:tcPr>
                    <a:solidFill>
                      <a:srgbClr val="F4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02020"/>
                          </a:solidFill>
                        </a:rPr>
                        <a:t>1.00</a:t>
                      </a:r>
                    </a:p>
                  </a:txBody>
                  <a:tcPr>
                    <a:solidFill>
                      <a:srgbClr val="F4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02020"/>
                          </a:solidFill>
                        </a:rPr>
                        <a:t>100%</a:t>
                      </a:r>
                    </a:p>
                  </a:txBody>
                  <a:tcPr>
                    <a:solidFill>
                      <a:srgbClr val="F4F6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98079" y="16002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02020"/>
                </a:solidFill>
              </a:rPr>
              <a:t>Status accuracy — where the eras separate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8138160" y="2953512"/>
            <a:ext cx="1005840" cy="244144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01000" y="264261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02020"/>
                </a:solidFill>
              </a:rPr>
              <a:t>89</a:t>
            </a:r>
          </a:p>
        </p:txBody>
      </p:sp>
      <p:sp>
        <p:nvSpPr>
          <p:cNvPr id="8" name="Rectangle 7"/>
          <p:cNvSpPr/>
          <p:nvPr/>
        </p:nvSpPr>
        <p:spPr>
          <a:xfrm>
            <a:off x="9966960" y="2651760"/>
            <a:ext cx="1005840" cy="2743200"/>
          </a:xfrm>
          <a:prstGeom prst="rect">
            <a:avLst/>
          </a:prstGeom>
          <a:solidFill>
            <a:srgbClr val="008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29800" y="234086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02020"/>
                </a:solidFill>
              </a:rPr>
              <a:t>100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54864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555555"/>
                </a:solidFill>
              </a:rPr>
              <a:t>rules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54864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555555"/>
                </a:solidFill>
              </a:rPr>
              <a:t>LLM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114800"/>
            <a:ext cx="6217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202020"/>
                </a:solidFill>
              </a:rPr>
              <a:t>The note says hypertension is "suspected, not yet confirmed."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202020"/>
                </a:solidFill>
              </a:rPr>
              <a:t>Rules code it ACTIVE (backward-only negation scan). The LLM reads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202020"/>
                </a:solidFill>
              </a:rPr>
              <a:t>the sentence and says UNCERTAIN — the 89% → 100% gap is exactly that.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4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Real Notes, Real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7043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89AA8"/>
                </a:solidFill>
              </a:rPr>
              <a:t>Findings per era on real de-identified notes (live runs)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0" y="4878593"/>
            <a:ext cx="777240" cy="333487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567697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02020"/>
                </a:solidFill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1892808" y="3711389"/>
            <a:ext cx="777240" cy="1500691"/>
          </a:xfrm>
          <a:prstGeom prst="rect">
            <a:avLst/>
          </a:prstGeom>
          <a:solidFill>
            <a:srgbClr val="008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55648" y="3400493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02020"/>
                </a:solidFill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2779776" y="3544645"/>
            <a:ext cx="777240" cy="1667435"/>
          </a:xfrm>
          <a:prstGeom prst="rect">
            <a:avLst/>
          </a:prstGeom>
          <a:solidFill>
            <a:srgbClr val="E87B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42616" y="323374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02020"/>
                </a:solidFill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3035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55555"/>
                </a:solidFill>
              </a:rPr>
              <a:t>Discharge summary
(pyelonephritis)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0" y="5202555"/>
            <a:ext cx="777240" cy="9525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489165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02020"/>
                </a:solidFill>
              </a:rPr>
              <a:t>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41848" y="3878132"/>
            <a:ext cx="777240" cy="1333948"/>
          </a:xfrm>
          <a:prstGeom prst="rect">
            <a:avLst/>
          </a:prstGeom>
          <a:solidFill>
            <a:srgbClr val="008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04688" y="3567236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02020"/>
                </a:solidFill>
              </a:rPr>
              <a:t>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28816" y="4044876"/>
            <a:ext cx="777240" cy="1167204"/>
          </a:xfrm>
          <a:prstGeom prst="rect">
            <a:avLst/>
          </a:prstGeom>
          <a:solidFill>
            <a:srgbClr val="E87B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1656" y="37339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02020"/>
                </a:solidFill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53035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55555"/>
                </a:solidFill>
              </a:rPr>
              <a:t>CLL + hemolytic
anemia follow-up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03920" y="5045337"/>
            <a:ext cx="777240" cy="166743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4734441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02020"/>
                </a:solidFill>
              </a:rPr>
              <a:t>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390888" y="2544184"/>
            <a:ext cx="777240" cy="2667896"/>
          </a:xfrm>
          <a:prstGeom prst="rect">
            <a:avLst/>
          </a:prstGeom>
          <a:solidFill>
            <a:srgbClr val="008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53728" y="223328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02020"/>
                </a:solidFill>
              </a:rPr>
              <a:t>16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277856" y="2377440"/>
            <a:ext cx="777240" cy="2834640"/>
          </a:xfrm>
          <a:prstGeom prst="rect">
            <a:avLst/>
          </a:prstGeom>
          <a:solidFill>
            <a:srgbClr val="E87B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40696" y="2066544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02020"/>
                </a:solidFill>
              </a:rPr>
              <a:t>17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80" y="53035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55555"/>
                </a:solidFill>
              </a:rPr>
              <a:t>CAD 6-month
follow-up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0" y="6192200"/>
            <a:ext cx="201168" cy="20116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61872" y="617220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Past — rules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26080" y="6192200"/>
            <a:ext cx="201168" cy="201168"/>
          </a:xfrm>
          <a:prstGeom prst="rect">
            <a:avLst/>
          </a:prstGeom>
          <a:solidFill>
            <a:srgbClr val="008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82112" y="617220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Present — LLM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46320" y="6192200"/>
            <a:ext cx="201168" cy="201168"/>
          </a:xfrm>
          <a:prstGeom prst="rect">
            <a:avLst/>
          </a:prstGeom>
          <a:solidFill>
            <a:srgbClr val="E87B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02352" y="617220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Future — vision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60" y="617220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C0322E"/>
                </a:solidFill>
              </a:rPr>
              <a:t>Rules missed the discharge diagnosis itself — pyelonephritis (N10).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4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The Failure That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7043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89AA8"/>
                </a:solidFill>
              </a:rPr>
              <a:t>Found organically on a real cardiology note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 b="1">
                <a:solidFill>
                  <a:srgbClr val="0E4D52"/>
                </a:solidFill>
              </a:rPr>
              <a:t>"…cardiac catheterization showed NO EVIDENCE OF coronary artery disease."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918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>
                <a:solidFill>
                  <a:srgbClr val="202020"/>
                </a:solidFill>
              </a:rPr>
              <a:t>• Rule-based era: reports CAD as ACTIVE — the negation pattern never fires.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202020"/>
                </a:solidFill>
              </a:rPr>
              <a:t>• LLM era: correctly omits it.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202020"/>
                </a:solidFill>
              </a:rPr>
              <a:t>• That is a false diagnosis a payer would have had to defend.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202020"/>
                </a:solidFill>
              </a:rPr>
              <a:t>• Pinned as a unit test — the brittleness is documented behavior, not an anecdote.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4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Guardrails Built 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7043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89AA8"/>
                </a:solidFill>
              </a:rPr>
              <a:t>A deterministic guard + audit trail on a probabilistic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783080"/>
            <a:ext cx="3520440" cy="1737360"/>
          </a:xfrm>
          <a:prstGeom prst="rect">
            <a:avLst/>
          </a:prstGeom>
          <a:solidFill>
            <a:srgbClr val="F4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3520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E4D52"/>
                </a:solidFill>
              </a:rPr>
              <a:t>74,719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743200"/>
            <a:ext cx="3246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55555"/>
                </a:solidFill>
              </a:rPr>
              <a:t>official ICD-10-CM codes
every emitted code checked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26280" y="1783080"/>
            <a:ext cx="3520440" cy="1737360"/>
          </a:xfrm>
          <a:prstGeom prst="rect">
            <a:avLst/>
          </a:prstGeom>
          <a:solidFill>
            <a:srgbClr val="F4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1920240"/>
            <a:ext cx="3520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08300"/>
                </a:solidFill>
              </a:rPr>
              <a:t>97.8%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2743200"/>
            <a:ext cx="3246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55555"/>
                </a:solidFill>
              </a:rPr>
              <a:t>LLM codes valid
across real-note runs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21040" y="1783080"/>
            <a:ext cx="3520440" cy="1737360"/>
          </a:xfrm>
          <a:prstGeom prst="rect">
            <a:avLst/>
          </a:prstGeom>
          <a:solidFill>
            <a:srgbClr val="F4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1920240"/>
            <a:ext cx="3520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189AA8"/>
                </a:solidFill>
              </a:rPr>
              <a:t>92.1%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2743200"/>
            <a:ext cx="3246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55555"/>
                </a:solidFill>
              </a:rPr>
              <a:t>vision codes valid
every miss flagged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977639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>
                <a:solidFill>
                  <a:srgbClr val="202020"/>
                </a:solidFill>
              </a:rPr>
              <a:t>• Flagged live: R61.9, R21.9 — well-formed codes that don't exist.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202020"/>
                </a:solidFill>
              </a:rPr>
              <a:t>• Code-set drift caught: M54.5, D59.1, C91.1 were valid in earlier fiscal</a:t>
            </a:r>
          </a:p>
          <a:p>
            <a:pPr lvl="1">
              <a:spcAft>
                <a:spcPts val="800"/>
              </a:spcAft>
            </a:pPr>
            <a:r>
              <a:rPr sz="1800" b="0">
                <a:solidFill>
                  <a:srgbClr val="555555"/>
                </a:solidFill>
              </a:rPr>
              <a:t>– years, since subdivided — the model codes from its training era; the FY2026 table catches it.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202020"/>
                </a:solidFill>
              </a:rPr>
              <a:t>• Every run writes an audit artifact: note, model, prompt version, findings + evidence.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4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Opportunities &amp; Threats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89AA8"/>
                </a:solidFill>
              </a:rPr>
              <a:t>Opportunities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5394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202020"/>
                </a:solidFill>
              </a:rPr>
              <a:t>• Chart-to-code automation for risk adjustment (HCC) and payment integrity.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02020"/>
                </a:solidFill>
              </a:rPr>
              <a:t>• Policy → executable rules; summarize and compare policy versions.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02020"/>
                </a:solidFill>
              </a:rPr>
              <a:t>• Quality-measure abstraction (HEDIS) from free text.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02020"/>
                </a:solidFill>
              </a:rPr>
              <a:t>• Clinical validation for prior authorization and appeals.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554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C0322E"/>
                </a:solidFill>
              </a:rPr>
              <a:t>Threats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0312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202020"/>
                </a:solidFill>
              </a:rPr>
              <a:t>• Hallucinated codes/evidence — unacceptable when payment depends on it.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02020"/>
                </a:solidFill>
              </a:rPr>
              <a:t>• PHI / HIPAA and data-governance obligations.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02020"/>
                </a:solidFill>
              </a:rPr>
              <a:t>• Regulatory scrutiny (FDA, ONC); auditability demands.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02020"/>
                </a:solidFill>
              </a:rPr>
              <a:t>• Model bias/equity; vendor cost and lock-in.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4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Recommended Actions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7043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89AA8"/>
                </a:solidFill>
              </a:rPr>
              <a:t>Differentiate on trustworthy, explainable clinical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>
                <a:solidFill>
                  <a:srgbClr val="202020"/>
                </a:solidFill>
              </a:rPr>
              <a:t>• Governed, human-in-the-loop chart review with span-level evidence per code.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202020"/>
                </a:solidFill>
              </a:rPr>
              <a:t>• Pair LLM extraction with deterministic ICD-10/HCC validation (as this POC does).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202020"/>
                </a:solidFill>
              </a:rPr>
              <a:t>• Adopt multimodal models for scanned/faxed records — retire brittle OCR pipelines.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202020"/>
                </a:solidFill>
              </a:rPr>
              <a:t>• Stand up evaluation + guardrail frameworks before production.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4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737360"/>
            <a:ext cx="502920" cy="502920"/>
          </a:xfrm>
          <a:prstGeom prst="rect">
            <a:avLst/>
          </a:prstGeom>
          <a:solidFill>
            <a:srgbClr val="0E4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792224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16916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202020"/>
                </a:solidFill>
              </a:rPr>
              <a:t>The eras separate on judgment, not detection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176272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</a:rPr>
              <a:t>Status accuracy 89% → 100%; on real notes the dictionary missed the discharge diagnosis itself.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3246120"/>
            <a:ext cx="502920" cy="502920"/>
          </a:xfrm>
          <a:prstGeom prst="rect">
            <a:avLst/>
          </a:prstGeom>
          <a:solidFill>
            <a:srgbClr val="0E4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300984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3200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202020"/>
                </a:solidFill>
              </a:rPr>
              <a:t>Trust is an architecture, not a model property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3685032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</a:rPr>
              <a:t>Official code-table validation + evidence spans + audit artifacts make LLM output defensible.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4754879"/>
            <a:ext cx="502920" cy="502920"/>
          </a:xfrm>
          <a:prstGeom prst="rect">
            <a:avLst/>
          </a:prstGeom>
          <a:solidFill>
            <a:srgbClr val="0E4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809743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4709159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202020"/>
                </a:solidFill>
              </a:rPr>
              <a:t>This maps directly to Cotiviti's franchise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5193791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</a:rPr>
              <a:t>Chart-to-code for risk adjustment and payment integrity, with $31.7B/yr of improper payments in scope.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65176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1">
                <a:solidFill>
                  <a:srgbClr val="FFFFFF"/>
                </a:solidFill>
              </a:rPr>
              <a:t>Thank you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BFE6EA"/>
                </a:solidFill>
              </a:rPr>
              <a:t>Akhil Gorantala  ·  Cotiviti GenAI Science Internship Demonstration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BFE6EA"/>
                </a:solidFill>
              </a:rPr>
              <a:t>github.com/akhilg-9/cotiviti-cni-assessment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